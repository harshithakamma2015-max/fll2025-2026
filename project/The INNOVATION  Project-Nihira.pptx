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14558169b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14558169b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1455816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1455816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14558169b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14558169b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The INNOVATION  Project</a:t>
            </a:r>
            <a:endParaRPr sz="2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FF"/>
                </a:solidFill>
              </a:rPr>
              <a:t>                    </a:t>
            </a:r>
            <a:r>
              <a:rPr lang="en-GB">
                <a:solidFill>
                  <a:schemeClr val="dk1"/>
                </a:solidFill>
              </a:rPr>
              <a:t>By Tanvi, Prad, Nihira, and Harshita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en-GB" sz="1325">
                <a:solidFill>
                  <a:schemeClr val="lt1"/>
                </a:solidFill>
              </a:rPr>
              <a:t>Dwarka –</a:t>
            </a:r>
            <a:endParaRPr b="1" sz="127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275">
                <a:solidFill>
                  <a:schemeClr val="lt1"/>
                </a:solidFill>
              </a:rPr>
              <a:t>Off the coast of Gujarat, India, near modern-day Dwarka</a:t>
            </a:r>
            <a:br>
              <a:rPr lang="en-GB" sz="1275">
                <a:solidFill>
                  <a:schemeClr val="lt1"/>
                </a:solidFill>
              </a:rPr>
            </a:br>
            <a:r>
              <a:rPr lang="en-GB" sz="1275">
                <a:solidFill>
                  <a:schemeClr val="lt1"/>
                </a:solidFill>
              </a:rPr>
              <a:t>Linked to the ancient city described in Hindu epics (Mahabharata)</a:t>
            </a:r>
            <a:br>
              <a:rPr lang="en-GB" sz="1275">
                <a:solidFill>
                  <a:schemeClr val="lt1"/>
                </a:solidFill>
              </a:rPr>
            </a:br>
            <a:r>
              <a:rPr lang="en-GB" sz="1275">
                <a:solidFill>
                  <a:schemeClr val="lt1"/>
                </a:solidFill>
              </a:rPr>
              <a:t>Believed to be the legendary city founded by Lord Krishna</a:t>
            </a:r>
            <a:br>
              <a:rPr lang="en-GB" sz="1275">
                <a:solidFill>
                  <a:schemeClr val="lt1"/>
                </a:solidFill>
              </a:rPr>
            </a:br>
            <a:endParaRPr sz="127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-GB" sz="1275">
                <a:solidFill>
                  <a:schemeClr val="lt1"/>
                </a:solidFill>
              </a:rPr>
              <a:t>Underwater Discoveries</a:t>
            </a:r>
            <a:endParaRPr b="1" sz="127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275">
                <a:solidFill>
                  <a:schemeClr val="lt1"/>
                </a:solidFill>
              </a:rPr>
              <a:t>Marine explorations by the National Institute of Oceanography (NIO)</a:t>
            </a:r>
            <a:br>
              <a:rPr lang="en-GB" sz="1275">
                <a:solidFill>
                  <a:schemeClr val="lt1"/>
                </a:solidFill>
              </a:rPr>
            </a:br>
            <a:r>
              <a:rPr lang="en-GB" sz="1275">
                <a:solidFill>
                  <a:schemeClr val="lt1"/>
                </a:solidFill>
              </a:rPr>
              <a:t>Submerged structures: stone walls, pillars, and grids</a:t>
            </a:r>
            <a:br>
              <a:rPr lang="en-GB" sz="1275">
                <a:solidFill>
                  <a:schemeClr val="lt1"/>
                </a:solidFill>
              </a:rPr>
            </a:br>
            <a:r>
              <a:rPr lang="en-GB" sz="1275">
                <a:solidFill>
                  <a:schemeClr val="lt1"/>
                </a:solidFill>
              </a:rPr>
              <a:t>Dating and interpretation remain debated (claims range from 3,000 to 9,000 years old)</a:t>
            </a:r>
            <a:br>
              <a:rPr lang="en-GB" sz="1275">
                <a:solidFill>
                  <a:schemeClr val="lt1"/>
                </a:solidFill>
              </a:rPr>
            </a:br>
            <a:r>
              <a:rPr b="1" lang="en-GB" sz="1275">
                <a:solidFill>
                  <a:schemeClr val="lt1"/>
                </a:solidFill>
              </a:rPr>
              <a:t> Archaeological Significance</a:t>
            </a:r>
            <a:endParaRPr b="1" sz="127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275">
                <a:solidFill>
                  <a:schemeClr val="lt1"/>
                </a:solidFill>
              </a:rPr>
              <a:t>Offers insight into ancient coastal urban planning</a:t>
            </a:r>
            <a:br>
              <a:rPr lang="en-GB" sz="1275">
                <a:solidFill>
                  <a:schemeClr val="lt1"/>
                </a:solidFill>
              </a:rPr>
            </a:br>
            <a:r>
              <a:rPr lang="en-GB" sz="1275">
                <a:solidFill>
                  <a:schemeClr val="lt1"/>
                </a:solidFill>
              </a:rPr>
              <a:t>Raises questions about early maritime trade and civilization</a:t>
            </a:r>
            <a:br>
              <a:rPr lang="en-GB" sz="1275">
                <a:solidFill>
                  <a:schemeClr val="lt1"/>
                </a:solidFill>
              </a:rPr>
            </a:br>
            <a:endParaRPr sz="127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27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75">
                <a:solidFill>
                  <a:schemeClr val="lt1"/>
                </a:solidFill>
              </a:rPr>
              <a:t>Would you like a second slide that goes deeper into the </a:t>
            </a:r>
            <a:r>
              <a:rPr b="1" lang="en-GB" sz="1275">
                <a:solidFill>
                  <a:schemeClr val="lt1"/>
                </a:solidFill>
              </a:rPr>
              <a:t>scientific methods</a:t>
            </a:r>
            <a:r>
              <a:rPr lang="en-GB" sz="1275">
                <a:solidFill>
                  <a:schemeClr val="lt1"/>
                </a:solidFill>
              </a:rPr>
              <a:t> used in exploring Dwarka or the </a:t>
            </a:r>
            <a:r>
              <a:rPr b="1" lang="en-GB" sz="1275">
                <a:solidFill>
                  <a:schemeClr val="lt1"/>
                </a:solidFill>
              </a:rPr>
              <a:t>debates between mainstream and alternative archaeologists</a:t>
            </a:r>
            <a:r>
              <a:rPr lang="en-GB" sz="1275">
                <a:solidFill>
                  <a:schemeClr val="lt1"/>
                </a:solidFill>
              </a:rPr>
              <a:t>?</a:t>
            </a:r>
            <a:endParaRPr sz="127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450"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884500" y="373075"/>
            <a:ext cx="7243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lt1"/>
                </a:solidFill>
              </a:rPr>
              <a:t>UNDERWATER CITIES</a:t>
            </a:r>
            <a:r>
              <a:rPr lang="en-GB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Examples of underwater cities are Pavlopetri, Greece, </a:t>
            </a:r>
            <a:r>
              <a:rPr lang="en-GB">
                <a:solidFill>
                  <a:schemeClr val="lt1"/>
                </a:solidFill>
              </a:rPr>
              <a:t>Derwent, UK, Baiae, Port Royal, and Shi Cheng.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In Pavlopetri archaeologists used a Robotic Total Station: A land based instrument used to find the exact location of divers holding a prism- equipped pole over the site.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</a:rPr>
              <a:t>AUV (Autonomous Underwater Vehicle): A quicker technique and also made to collect pictures.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884500" y="373075"/>
            <a:ext cx="7243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lt1"/>
                </a:solidFill>
              </a:rPr>
              <a:t>UNDERWATER CITIES</a:t>
            </a:r>
            <a:r>
              <a:rPr lang="en-GB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descr="Robotic station with a prism pole (provided by Getty Images)"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6275" y="3607626"/>
            <a:ext cx="2277025" cy="1535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ilestone geodesic with a reflector mounted use outdoors (provided by Getty Images)" id="69" name="Google Shape;6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7475" y="3487700"/>
            <a:ext cx="1714075" cy="1655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9644"/>
              <a:buFont typeface="Arial"/>
              <a:buNone/>
            </a:pPr>
            <a:r>
              <a:rPr b="1" lang="en-GB" sz="3710">
                <a:solidFill>
                  <a:schemeClr val="lt1"/>
                </a:solidFill>
              </a:rPr>
              <a:t>Harsh and Inaccessible Environments</a:t>
            </a:r>
            <a:endParaRPr b="1" sz="3710">
              <a:solidFill>
                <a:schemeClr val="lt1"/>
              </a:solidFill>
            </a:endParaRPr>
          </a:p>
          <a:p>
            <a:pPr indent="-28750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3710">
                <a:solidFill>
                  <a:schemeClr val="lt1"/>
                </a:solidFill>
              </a:rPr>
              <a:t>Strong currents, low visibility, deep water pressures</a:t>
            </a:r>
            <a:br>
              <a:rPr lang="en-GB" sz="3710">
                <a:solidFill>
                  <a:schemeClr val="lt1"/>
                </a:solidFill>
              </a:rPr>
            </a:br>
            <a:endParaRPr sz="3710">
              <a:solidFill>
                <a:schemeClr val="lt1"/>
              </a:solidFill>
            </a:endParaRPr>
          </a:p>
          <a:p>
            <a:pPr indent="-28750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3710">
                <a:solidFill>
                  <a:schemeClr val="lt1"/>
                </a:solidFill>
              </a:rPr>
              <a:t>Require specialized diving gear or submersibles</a:t>
            </a:r>
            <a:br>
              <a:rPr lang="en-GB" sz="3710">
                <a:solidFill>
                  <a:schemeClr val="lt1"/>
                </a:solidFill>
              </a:rPr>
            </a:br>
            <a:endParaRPr sz="3710">
              <a:solidFill>
                <a:schemeClr val="lt1"/>
              </a:solidFill>
            </a:endParaRPr>
          </a:p>
          <a:p>
            <a:pPr indent="-28750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3710">
                <a:solidFill>
                  <a:schemeClr val="lt1"/>
                </a:solidFill>
              </a:rPr>
              <a:t>Weather and tides limit working windows</a:t>
            </a:r>
            <a:br>
              <a:rPr lang="en-GB" sz="3710">
                <a:solidFill>
                  <a:schemeClr val="lt1"/>
                </a:solidFill>
              </a:rPr>
            </a:br>
            <a:endParaRPr sz="371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9644"/>
              <a:buFont typeface="Arial"/>
              <a:buNone/>
            </a:pPr>
            <a:r>
              <a:rPr b="1" lang="en-GB" sz="3710">
                <a:solidFill>
                  <a:schemeClr val="lt1"/>
                </a:solidFill>
              </a:rPr>
              <a:t>High Costs and Limited Funding</a:t>
            </a:r>
            <a:endParaRPr b="1" sz="3710">
              <a:solidFill>
                <a:schemeClr val="lt1"/>
              </a:solidFill>
            </a:endParaRPr>
          </a:p>
          <a:p>
            <a:pPr indent="-28750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3710">
                <a:solidFill>
                  <a:schemeClr val="lt1"/>
                </a:solidFill>
              </a:rPr>
              <a:t>Expensive equipment (ROVs, sonar, dive gear)</a:t>
            </a:r>
            <a:br>
              <a:rPr lang="en-GB" sz="3710">
                <a:solidFill>
                  <a:schemeClr val="lt1"/>
                </a:solidFill>
              </a:rPr>
            </a:br>
            <a:endParaRPr sz="3710">
              <a:solidFill>
                <a:schemeClr val="lt1"/>
              </a:solidFill>
            </a:endParaRPr>
          </a:p>
          <a:p>
            <a:pPr indent="-28750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3710">
                <a:solidFill>
                  <a:schemeClr val="lt1"/>
                </a:solidFill>
              </a:rPr>
              <a:t>Long-term projects often underfunded</a:t>
            </a:r>
            <a:br>
              <a:rPr lang="en-GB" sz="3710">
                <a:solidFill>
                  <a:schemeClr val="lt1"/>
                </a:solidFill>
              </a:rPr>
            </a:br>
            <a:endParaRPr sz="3710">
              <a:solidFill>
                <a:schemeClr val="lt1"/>
              </a:solidFill>
            </a:endParaRPr>
          </a:p>
          <a:p>
            <a:pPr indent="-28750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3710">
                <a:solidFill>
                  <a:schemeClr val="lt1"/>
                </a:solidFill>
              </a:rPr>
              <a:t>Reliance on grants or academic/government backing</a:t>
            </a:r>
            <a:br>
              <a:rPr lang="en-GB" sz="3710">
                <a:solidFill>
                  <a:schemeClr val="lt1"/>
                </a:solidFill>
              </a:rPr>
            </a:br>
            <a:endParaRPr sz="371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9644"/>
              <a:buFont typeface="Arial"/>
              <a:buNone/>
            </a:pPr>
            <a:r>
              <a:rPr b="1" lang="en-GB" sz="3710">
                <a:solidFill>
                  <a:schemeClr val="lt1"/>
                </a:solidFill>
              </a:rPr>
              <a:t>Time Constraints</a:t>
            </a:r>
            <a:endParaRPr b="1" sz="3710">
              <a:solidFill>
                <a:schemeClr val="lt1"/>
              </a:solidFill>
            </a:endParaRPr>
          </a:p>
          <a:p>
            <a:pPr indent="-28750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3710">
                <a:solidFill>
                  <a:schemeClr val="lt1"/>
                </a:solidFill>
              </a:rPr>
              <a:t>Limited dive times due to safety</a:t>
            </a:r>
            <a:br>
              <a:rPr lang="en-GB" sz="3710">
                <a:solidFill>
                  <a:schemeClr val="lt1"/>
                </a:solidFill>
              </a:rPr>
            </a:br>
            <a:endParaRPr sz="3710">
              <a:solidFill>
                <a:schemeClr val="lt1"/>
              </a:solidFill>
            </a:endParaRPr>
          </a:p>
          <a:p>
            <a:pPr indent="-28750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3710">
                <a:solidFill>
                  <a:schemeClr val="lt1"/>
                </a:solidFill>
              </a:rPr>
              <a:t>Conservation concerns: rapid site degradation once exposed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884500" y="373075"/>
            <a:ext cx="7243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lt1"/>
                </a:solidFill>
              </a:rPr>
              <a:t>UNDERWATER </a:t>
            </a:r>
            <a:r>
              <a:rPr lang="en-GB" sz="2600">
                <a:solidFill>
                  <a:schemeClr val="lt1"/>
                </a:solidFill>
              </a:rPr>
              <a:t>Archaeology</a:t>
            </a:r>
            <a:r>
              <a:rPr lang="en-GB" sz="2600">
                <a:solidFill>
                  <a:schemeClr val="lt1"/>
                </a:solidFill>
              </a:rPr>
              <a:t> challenges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